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66" r:id="rId3"/>
    <p:sldId id="271" r:id="rId4"/>
    <p:sldId id="257" r:id="rId5"/>
    <p:sldId id="272" r:id="rId6"/>
    <p:sldId id="273" r:id="rId7"/>
    <p:sldId id="258" r:id="rId8"/>
    <p:sldId id="259" r:id="rId9"/>
    <p:sldId id="269" r:id="rId10"/>
    <p:sldId id="260" r:id="rId11"/>
    <p:sldId id="267" r:id="rId12"/>
    <p:sldId id="268" r:id="rId13"/>
    <p:sldId id="261" r:id="rId14"/>
    <p:sldId id="262" r:id="rId15"/>
    <p:sldId id="263" r:id="rId16"/>
    <p:sldId id="270"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ivesh Sood" userId="221f96a14586cd7a" providerId="LiveId" clId="{6BC4B54B-4A5F-485B-9F32-B859A088848C}"/>
    <pc:docChg chg="undo custSel addSld modSld">
      <pc:chgData name="Parivesh Sood" userId="221f96a14586cd7a" providerId="LiveId" clId="{6BC4B54B-4A5F-485B-9F32-B859A088848C}" dt="2020-11-07T04:50:36.865" v="1163" actId="1076"/>
      <pc:docMkLst>
        <pc:docMk/>
      </pc:docMkLst>
      <pc:sldChg chg="modSp mod">
        <pc:chgData name="Parivesh Sood" userId="221f96a14586cd7a" providerId="LiveId" clId="{6BC4B54B-4A5F-485B-9F32-B859A088848C}" dt="2020-11-07T04:17:29.348" v="550" actId="20577"/>
        <pc:sldMkLst>
          <pc:docMk/>
          <pc:sldMk cId="2941583852" sldId="258"/>
        </pc:sldMkLst>
        <pc:spChg chg="mod">
          <ac:chgData name="Parivesh Sood" userId="221f96a14586cd7a" providerId="LiveId" clId="{6BC4B54B-4A5F-485B-9F32-B859A088848C}" dt="2020-11-07T04:17:29.348" v="550" actId="20577"/>
          <ac:spMkLst>
            <pc:docMk/>
            <pc:sldMk cId="2941583852" sldId="258"/>
            <ac:spMk id="3" creationId="{B464BFC6-48E9-49A0-94B6-F0166CC58740}"/>
          </ac:spMkLst>
        </pc:spChg>
        <pc:picChg chg="mod">
          <ac:chgData name="Parivesh Sood" userId="221f96a14586cd7a" providerId="LiveId" clId="{6BC4B54B-4A5F-485B-9F32-B859A088848C}" dt="2020-11-07T04:12:45.991" v="419" actId="1076"/>
          <ac:picMkLst>
            <pc:docMk/>
            <pc:sldMk cId="2941583852" sldId="258"/>
            <ac:picMk id="5" creationId="{260C3741-D334-4E85-B8C8-16A8AF61FBAE}"/>
          </ac:picMkLst>
        </pc:picChg>
      </pc:sldChg>
      <pc:sldChg chg="modSp mod">
        <pc:chgData name="Parivesh Sood" userId="221f96a14586cd7a" providerId="LiveId" clId="{6BC4B54B-4A5F-485B-9F32-B859A088848C}" dt="2020-11-07T04:49:53.659" v="1162" actId="20577"/>
        <pc:sldMkLst>
          <pc:docMk/>
          <pc:sldMk cId="2472714634" sldId="259"/>
        </pc:sldMkLst>
        <pc:spChg chg="mod">
          <ac:chgData name="Parivesh Sood" userId="221f96a14586cd7a" providerId="LiveId" clId="{6BC4B54B-4A5F-485B-9F32-B859A088848C}" dt="2020-11-07T04:49:53.659" v="1162" actId="20577"/>
          <ac:spMkLst>
            <pc:docMk/>
            <pc:sldMk cId="2472714634" sldId="259"/>
            <ac:spMk id="3" creationId="{A62BAB27-C4C5-4D52-BEDC-1583677CE0E9}"/>
          </ac:spMkLst>
        </pc:spChg>
      </pc:sldChg>
      <pc:sldChg chg="modSp mod">
        <pc:chgData name="Parivesh Sood" userId="221f96a14586cd7a" providerId="LiveId" clId="{6BC4B54B-4A5F-485B-9F32-B859A088848C}" dt="2020-11-06T17:52:17.602" v="21" actId="20577"/>
        <pc:sldMkLst>
          <pc:docMk/>
          <pc:sldMk cId="2396326701" sldId="263"/>
        </pc:sldMkLst>
        <pc:spChg chg="mod">
          <ac:chgData name="Parivesh Sood" userId="221f96a14586cd7a" providerId="LiveId" clId="{6BC4B54B-4A5F-485B-9F32-B859A088848C}" dt="2020-11-06T17:52:17.602" v="21" actId="20577"/>
          <ac:spMkLst>
            <pc:docMk/>
            <pc:sldMk cId="2396326701" sldId="263"/>
            <ac:spMk id="2" creationId="{E7DF2FBB-B1BA-4B47-A323-A052A157798A}"/>
          </ac:spMkLst>
        </pc:spChg>
      </pc:sldChg>
      <pc:sldChg chg="modSp mod">
        <pc:chgData name="Parivesh Sood" userId="221f96a14586cd7a" providerId="LiveId" clId="{6BC4B54B-4A5F-485B-9F32-B859A088848C}" dt="2020-11-06T17:54:52.921" v="81" actId="1076"/>
        <pc:sldMkLst>
          <pc:docMk/>
          <pc:sldMk cId="2617767797" sldId="266"/>
        </pc:sldMkLst>
        <pc:spChg chg="mod">
          <ac:chgData name="Parivesh Sood" userId="221f96a14586cd7a" providerId="LiveId" clId="{6BC4B54B-4A5F-485B-9F32-B859A088848C}" dt="2020-11-06T17:54:52.921" v="81" actId="1076"/>
          <ac:spMkLst>
            <pc:docMk/>
            <pc:sldMk cId="2617767797" sldId="266"/>
            <ac:spMk id="2" creationId="{C9013803-76FC-440B-A499-C8D171F33B29}"/>
          </ac:spMkLst>
        </pc:spChg>
        <pc:spChg chg="mod">
          <ac:chgData name="Parivesh Sood" userId="221f96a14586cd7a" providerId="LiveId" clId="{6BC4B54B-4A5F-485B-9F32-B859A088848C}" dt="2020-11-06T17:54:50.297" v="80" actId="1076"/>
          <ac:spMkLst>
            <pc:docMk/>
            <pc:sldMk cId="2617767797" sldId="266"/>
            <ac:spMk id="3" creationId="{C7B46A3A-92E7-4F16-9135-2048DFD7F6FA}"/>
          </ac:spMkLst>
        </pc:spChg>
      </pc:sldChg>
      <pc:sldChg chg="modSp mod">
        <pc:chgData name="Parivesh Sood" userId="221f96a14586cd7a" providerId="LiveId" clId="{6BC4B54B-4A5F-485B-9F32-B859A088848C}" dt="2020-11-07T04:08:42.331" v="154" actId="20577"/>
        <pc:sldMkLst>
          <pc:docMk/>
          <pc:sldMk cId="3414465604" sldId="267"/>
        </pc:sldMkLst>
        <pc:spChg chg="mod">
          <ac:chgData name="Parivesh Sood" userId="221f96a14586cd7a" providerId="LiveId" clId="{6BC4B54B-4A5F-485B-9F32-B859A088848C}" dt="2020-11-07T04:08:42.331" v="154" actId="20577"/>
          <ac:spMkLst>
            <pc:docMk/>
            <pc:sldMk cId="3414465604" sldId="267"/>
            <ac:spMk id="2" creationId="{5A1445A0-E5B6-4D19-9114-BFFB40979E01}"/>
          </ac:spMkLst>
        </pc:spChg>
      </pc:sldChg>
      <pc:sldChg chg="modSp new mod">
        <pc:chgData name="Parivesh Sood" userId="221f96a14586cd7a" providerId="LiveId" clId="{6BC4B54B-4A5F-485B-9F32-B859A088848C}" dt="2020-11-06T17:53:05.472" v="42" actId="255"/>
        <pc:sldMkLst>
          <pc:docMk/>
          <pc:sldMk cId="3894838211" sldId="270"/>
        </pc:sldMkLst>
        <pc:spChg chg="mod">
          <ac:chgData name="Parivesh Sood" userId="221f96a14586cd7a" providerId="LiveId" clId="{6BC4B54B-4A5F-485B-9F32-B859A088848C}" dt="2020-11-06T17:52:34.386" v="34" actId="14100"/>
          <ac:spMkLst>
            <pc:docMk/>
            <pc:sldMk cId="3894838211" sldId="270"/>
            <ac:spMk id="2" creationId="{B5EC79A9-609B-4E13-908A-0266314D27CA}"/>
          </ac:spMkLst>
        </pc:spChg>
        <pc:spChg chg="mod">
          <ac:chgData name="Parivesh Sood" userId="221f96a14586cd7a" providerId="LiveId" clId="{6BC4B54B-4A5F-485B-9F32-B859A088848C}" dt="2020-11-06T17:53:05.472" v="42" actId="255"/>
          <ac:spMkLst>
            <pc:docMk/>
            <pc:sldMk cId="3894838211" sldId="270"/>
            <ac:spMk id="3" creationId="{5DD21267-DEF8-4DB3-82A8-06690EFA26FF}"/>
          </ac:spMkLst>
        </pc:spChg>
      </pc:sldChg>
      <pc:sldChg chg="modSp new mod">
        <pc:chgData name="Parivesh Sood" userId="221f96a14586cd7a" providerId="LiveId" clId="{6BC4B54B-4A5F-485B-9F32-B859A088848C}" dt="2020-11-06T18:02:31.943" v="106" actId="14100"/>
        <pc:sldMkLst>
          <pc:docMk/>
          <pc:sldMk cId="3962275793" sldId="271"/>
        </pc:sldMkLst>
        <pc:spChg chg="mod">
          <ac:chgData name="Parivesh Sood" userId="221f96a14586cd7a" providerId="LiveId" clId="{6BC4B54B-4A5F-485B-9F32-B859A088848C}" dt="2020-11-06T18:02:29.549" v="105" actId="14100"/>
          <ac:spMkLst>
            <pc:docMk/>
            <pc:sldMk cId="3962275793" sldId="271"/>
            <ac:spMk id="2" creationId="{7C22EC22-B221-400A-B2EB-2BA205243AEA}"/>
          </ac:spMkLst>
        </pc:spChg>
        <pc:spChg chg="mod">
          <ac:chgData name="Parivesh Sood" userId="221f96a14586cd7a" providerId="LiveId" clId="{6BC4B54B-4A5F-485B-9F32-B859A088848C}" dt="2020-11-06T18:02:31.943" v="106" actId="14100"/>
          <ac:spMkLst>
            <pc:docMk/>
            <pc:sldMk cId="3962275793" sldId="271"/>
            <ac:spMk id="3" creationId="{D55B1729-C8CF-49A3-8CA6-84845FDEA33B}"/>
          </ac:spMkLst>
        </pc:spChg>
      </pc:sldChg>
      <pc:sldChg chg="addSp delSp modSp new mod">
        <pc:chgData name="Parivesh Sood" userId="221f96a14586cd7a" providerId="LiveId" clId="{6BC4B54B-4A5F-485B-9F32-B859A088848C}" dt="2020-11-07T04:50:36.865" v="1163" actId="1076"/>
        <pc:sldMkLst>
          <pc:docMk/>
          <pc:sldMk cId="2592385133" sldId="272"/>
        </pc:sldMkLst>
        <pc:spChg chg="mod">
          <ac:chgData name="Parivesh Sood" userId="221f96a14586cd7a" providerId="LiveId" clId="{6BC4B54B-4A5F-485B-9F32-B859A088848C}" dt="2020-11-07T04:50:36.865" v="1163" actId="1076"/>
          <ac:spMkLst>
            <pc:docMk/>
            <pc:sldMk cId="2592385133" sldId="272"/>
            <ac:spMk id="2" creationId="{EDEEDCD9-2BFE-4292-9F14-86A65046173C}"/>
          </ac:spMkLst>
        </pc:spChg>
        <pc:spChg chg="del mod">
          <ac:chgData name="Parivesh Sood" userId="221f96a14586cd7a" providerId="LiveId" clId="{6BC4B54B-4A5F-485B-9F32-B859A088848C}" dt="2020-11-07T04:37:50.683" v="789" actId="3680"/>
          <ac:spMkLst>
            <pc:docMk/>
            <pc:sldMk cId="2592385133" sldId="272"/>
            <ac:spMk id="3" creationId="{09D72772-1D9B-49EB-9AE7-58C24D08485A}"/>
          </ac:spMkLst>
        </pc:spChg>
        <pc:spChg chg="add del mod">
          <ac:chgData name="Parivesh Sood" userId="221f96a14586cd7a" providerId="LiveId" clId="{6BC4B54B-4A5F-485B-9F32-B859A088848C}" dt="2020-11-07T04:37:59.096" v="792" actId="3680"/>
          <ac:spMkLst>
            <pc:docMk/>
            <pc:sldMk cId="2592385133" sldId="272"/>
            <ac:spMk id="6" creationId="{CABCF6AF-C5A8-41BB-9879-281778022DE1}"/>
          </ac:spMkLst>
        </pc:spChg>
        <pc:graphicFrameChg chg="add del mod ord modGraphic">
          <ac:chgData name="Parivesh Sood" userId="221f96a14586cd7a" providerId="LiveId" clId="{6BC4B54B-4A5F-485B-9F32-B859A088848C}" dt="2020-11-07T04:37:55.644" v="791" actId="478"/>
          <ac:graphicFrameMkLst>
            <pc:docMk/>
            <pc:sldMk cId="2592385133" sldId="272"/>
            <ac:graphicFrameMk id="4" creationId="{FBF2D010-4F35-481C-A12A-5C211A96F415}"/>
          </ac:graphicFrameMkLst>
        </pc:graphicFrameChg>
        <pc:graphicFrameChg chg="add mod ord modGraphic">
          <ac:chgData name="Parivesh Sood" userId="221f96a14586cd7a" providerId="LiveId" clId="{6BC4B54B-4A5F-485B-9F32-B859A088848C}" dt="2020-11-07T04:48:27.468" v="1145"/>
          <ac:graphicFrameMkLst>
            <pc:docMk/>
            <pc:sldMk cId="2592385133" sldId="272"/>
            <ac:graphicFrameMk id="7" creationId="{FA3F7D18-1537-441F-84AF-8F2F4A7E325A}"/>
          </ac:graphicFrameMkLst>
        </pc:graphicFrameChg>
      </pc:sldChg>
      <pc:sldChg chg="modSp new mod">
        <pc:chgData name="Parivesh Sood" userId="221f96a14586cd7a" providerId="LiveId" clId="{6BC4B54B-4A5F-485B-9F32-B859A088848C}" dt="2020-11-07T04:22:41.155" v="786" actId="20577"/>
        <pc:sldMkLst>
          <pc:docMk/>
          <pc:sldMk cId="458808122" sldId="273"/>
        </pc:sldMkLst>
        <pc:spChg chg="mod">
          <ac:chgData name="Parivesh Sood" userId="221f96a14586cd7a" providerId="LiveId" clId="{6BC4B54B-4A5F-485B-9F32-B859A088848C}" dt="2020-11-07T04:19:26.069" v="619" actId="20577"/>
          <ac:spMkLst>
            <pc:docMk/>
            <pc:sldMk cId="458808122" sldId="273"/>
            <ac:spMk id="2" creationId="{6754BDA2-00C6-4751-8CCF-B4A0EAC33384}"/>
          </ac:spMkLst>
        </pc:spChg>
        <pc:spChg chg="mod">
          <ac:chgData name="Parivesh Sood" userId="221f96a14586cd7a" providerId="LiveId" clId="{6BC4B54B-4A5F-485B-9F32-B859A088848C}" dt="2020-11-07T04:22:41.155" v="786" actId="20577"/>
          <ac:spMkLst>
            <pc:docMk/>
            <pc:sldMk cId="458808122" sldId="273"/>
            <ac:spMk id="3" creationId="{47794399-B977-497C-AD7D-4252695C770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635206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2903080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2583848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F8DBA8-E0BB-496F-98A6-2F31558C6D2A}" type="datetimeFigureOut">
              <a:rPr lang="en-IN" smtClean="0"/>
              <a:t>07-11-2020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185348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F8DBA8-E0BB-496F-98A6-2F31558C6D2A}" type="datetimeFigureOut">
              <a:rPr lang="en-IN" smtClean="0"/>
              <a:t>07-11-2020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2424657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F8DBA8-E0BB-496F-98A6-2F31558C6D2A}" type="datetimeFigureOut">
              <a:rPr lang="en-IN" smtClean="0"/>
              <a:t>07-11-2020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149011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F8DBA8-E0BB-496F-98A6-2F31558C6D2A}" type="datetimeFigureOut">
              <a:rPr lang="en-IN" smtClean="0"/>
              <a:t>07-11-2020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249778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F8DBA8-E0BB-496F-98A6-2F31558C6D2A}" type="datetimeFigureOut">
              <a:rPr lang="en-IN" smtClean="0"/>
              <a:t>07-11-2020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23962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F8DBA8-E0BB-496F-98A6-2F31558C6D2A}" type="datetimeFigureOut">
              <a:rPr lang="en-IN" smtClean="0"/>
              <a:t>07-11-2020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232066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600158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21269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224435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76915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718337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30825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8DBA8-E0BB-496F-98A6-2F31558C6D2A}" type="datetimeFigureOut">
              <a:rPr lang="en-IN" smtClean="0"/>
              <a:t>07-11-2020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EDF9A4-CDC1-4B34-99FA-DC024C2F1B65}" type="slidenum">
              <a:rPr lang="en-IN" smtClean="0"/>
              <a:t>‹#›</a:t>
            </a:fld>
            <a:endParaRPr lang="en-IN"/>
          </a:p>
        </p:txBody>
      </p:sp>
    </p:spTree>
    <p:extLst>
      <p:ext uri="{BB962C8B-B14F-4D97-AF65-F5344CB8AC3E}">
        <p14:creationId xmlns:p14="http://schemas.microsoft.com/office/powerpoint/2010/main" val="3105072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F8DBA8-E0BB-496F-98A6-2F31558C6D2A}" type="datetimeFigureOut">
              <a:rPr lang="en-IN" smtClean="0"/>
              <a:t>07-11-2020</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FEDF9A4-CDC1-4B34-99FA-DC024C2F1B65}" type="slidenum">
              <a:rPr lang="en-IN" smtClean="0"/>
              <a:t>‹#›</a:t>
            </a:fld>
            <a:endParaRPr lang="en-IN"/>
          </a:p>
        </p:txBody>
      </p:sp>
    </p:spTree>
    <p:extLst>
      <p:ext uri="{BB962C8B-B14F-4D97-AF65-F5344CB8AC3E}">
        <p14:creationId xmlns:p14="http://schemas.microsoft.com/office/powerpoint/2010/main" val="340108168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009EB-F2D5-4919-B0C1-759B020E1D05}"/>
              </a:ext>
            </a:extLst>
          </p:cNvPr>
          <p:cNvSpPr>
            <a:spLocks noGrp="1"/>
          </p:cNvSpPr>
          <p:nvPr>
            <p:ph type="ctrTitle"/>
          </p:nvPr>
        </p:nvSpPr>
        <p:spPr/>
        <p:txBody>
          <a:bodyPr/>
          <a:lstStyle/>
          <a:p>
            <a:pPr algn="ctr"/>
            <a:r>
              <a:rPr lang="en-IN" dirty="0"/>
              <a:t>Network Design Proposal For Bank</a:t>
            </a:r>
          </a:p>
        </p:txBody>
      </p:sp>
    </p:spTree>
    <p:extLst>
      <p:ext uri="{BB962C8B-B14F-4D97-AF65-F5344CB8AC3E}">
        <p14:creationId xmlns:p14="http://schemas.microsoft.com/office/powerpoint/2010/main" val="402308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13803-76FC-440B-A499-C8D171F33B29}"/>
              </a:ext>
            </a:extLst>
          </p:cNvPr>
          <p:cNvSpPr>
            <a:spLocks noGrp="1"/>
          </p:cNvSpPr>
          <p:nvPr>
            <p:ph type="title"/>
          </p:nvPr>
        </p:nvSpPr>
        <p:spPr>
          <a:xfrm>
            <a:off x="677334" y="496127"/>
            <a:ext cx="8596668" cy="1320800"/>
          </a:xfrm>
        </p:spPr>
        <p:txBody>
          <a:bodyPr>
            <a:normAutofit fontScale="90000"/>
          </a:bodyPr>
          <a:lstStyle/>
          <a:p>
            <a:pPr algn="ctr"/>
            <a:r>
              <a:rPr lang="en-IN" dirty="0"/>
              <a:t>Abstract</a:t>
            </a:r>
            <a:br>
              <a:rPr lang="en-IN" dirty="0"/>
            </a:br>
            <a:br>
              <a:rPr lang="en-IN" dirty="0"/>
            </a:br>
            <a:r>
              <a:rPr lang="en-IN" dirty="0">
                <a:solidFill>
                  <a:schemeClr val="tx1"/>
                </a:solidFill>
              </a:rPr>
              <a:t>Network Design Proposal for Bank</a:t>
            </a:r>
          </a:p>
        </p:txBody>
      </p:sp>
      <p:sp>
        <p:nvSpPr>
          <p:cNvPr id="3" name="Content Placeholder 2">
            <a:extLst>
              <a:ext uri="{FF2B5EF4-FFF2-40B4-BE49-F238E27FC236}">
                <a16:creationId xmlns:a16="http://schemas.microsoft.com/office/drawing/2014/main" id="{C7B46A3A-92E7-4F16-9135-2048DFD7F6FA}"/>
              </a:ext>
            </a:extLst>
          </p:cNvPr>
          <p:cNvSpPr>
            <a:spLocks noGrp="1"/>
          </p:cNvSpPr>
          <p:nvPr>
            <p:ph idx="1"/>
          </p:nvPr>
        </p:nvSpPr>
        <p:spPr>
          <a:xfrm>
            <a:off x="677334" y="2481100"/>
            <a:ext cx="8596668" cy="3880773"/>
          </a:xfrm>
        </p:spPr>
        <p:txBody>
          <a:bodyPr>
            <a:normAutofit/>
          </a:bodyPr>
          <a:lstStyle/>
          <a:p>
            <a:pPr marL="0" indent="0">
              <a:buNone/>
            </a:pPr>
            <a:r>
              <a:rPr lang="en-US" sz="2400" dirty="0"/>
              <a:t>A network proposal has to be developed for a bank. The bank has a main office , which is located in Chennai, and has 5 branch offices located at Coimbatore, Madurai, Trichy, Salem and Tirunelveli. The bank has an application server, which is used by it’s customers across the world for online transactions. All the branches have high speed internet connection. There are approximately 50 users in each of the branch offices and 100 users in the main office.</a:t>
            </a:r>
            <a:endParaRPr lang="en-IN" sz="2400" dirty="0"/>
          </a:p>
        </p:txBody>
      </p:sp>
    </p:spTree>
    <p:extLst>
      <p:ext uri="{BB962C8B-B14F-4D97-AF65-F5344CB8AC3E}">
        <p14:creationId xmlns:p14="http://schemas.microsoft.com/office/powerpoint/2010/main" val="2617767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2EC22-B221-400A-B2EB-2BA205243AEA}"/>
              </a:ext>
            </a:extLst>
          </p:cNvPr>
          <p:cNvSpPr>
            <a:spLocks noGrp="1"/>
          </p:cNvSpPr>
          <p:nvPr>
            <p:ph type="title"/>
          </p:nvPr>
        </p:nvSpPr>
        <p:spPr>
          <a:xfrm>
            <a:off x="677334" y="609600"/>
            <a:ext cx="8596668" cy="1247480"/>
          </a:xfrm>
        </p:spPr>
        <p:txBody>
          <a:bodyPr/>
          <a:lstStyle/>
          <a:p>
            <a:pPr algn="ctr"/>
            <a:r>
              <a:rPr lang="en-IN" dirty="0"/>
              <a:t>Introduction</a:t>
            </a:r>
          </a:p>
        </p:txBody>
      </p:sp>
      <p:sp>
        <p:nvSpPr>
          <p:cNvPr id="3" name="Content Placeholder 2">
            <a:extLst>
              <a:ext uri="{FF2B5EF4-FFF2-40B4-BE49-F238E27FC236}">
                <a16:creationId xmlns:a16="http://schemas.microsoft.com/office/drawing/2014/main" id="{D55B1729-C8CF-49A3-8CA6-84845FDEA33B}"/>
              </a:ext>
            </a:extLst>
          </p:cNvPr>
          <p:cNvSpPr>
            <a:spLocks noGrp="1"/>
          </p:cNvSpPr>
          <p:nvPr>
            <p:ph idx="1"/>
          </p:nvPr>
        </p:nvSpPr>
        <p:spPr>
          <a:xfrm>
            <a:off x="677334" y="1970202"/>
            <a:ext cx="8596668" cy="4071160"/>
          </a:xfrm>
        </p:spPr>
        <p:txBody>
          <a:bodyPr/>
          <a:lstStyle/>
          <a:p>
            <a:pPr>
              <a:buFont typeface="+mj-lt"/>
              <a:buAutoNum type="arabicPeriod"/>
            </a:pPr>
            <a:r>
              <a:rPr lang="en-US" dirty="0">
                <a:effectLst/>
                <a:latin typeface="Arial" panose="020B0604020202020204" pitchFamily="34" charset="0"/>
              </a:rPr>
              <a:t>An ideal Bank Networking system will be fully network base and easy with friendly user interface staff task management system where any banking system manage their networking system somehow Head office , Branch Office, and other office are maintain LAN, MAN, WAN, VLAN, VLSM,VPN and some branch are maintain by manageable switch.</a:t>
            </a:r>
          </a:p>
          <a:p>
            <a:pPr>
              <a:buFont typeface="+mj-lt"/>
              <a:buAutoNum type="arabicPeriod"/>
            </a:pPr>
            <a:r>
              <a:rPr lang="en-US" dirty="0">
                <a:effectLst/>
                <a:latin typeface="Arial" panose="020B0604020202020204" pitchFamily="34" charset="0"/>
              </a:rPr>
              <a:t>LAN is used by Local Area Networking system for example one office and a one building. And MAN are using by the Metro Politian area Network for Example small town, and WAN are use by the WIDE AREA NETWORK.</a:t>
            </a:r>
          </a:p>
          <a:p>
            <a:pPr>
              <a:buFont typeface="+mj-lt"/>
              <a:buAutoNum type="arabicPeriod"/>
            </a:pPr>
            <a:r>
              <a:rPr lang="en-US" dirty="0">
                <a:effectLst/>
                <a:latin typeface="Arial" panose="020B0604020202020204" pitchFamily="34" charset="0"/>
              </a:rPr>
              <a:t>In this networking system are used by all banking users can use by shared their data very easily. So that every user use to take about Network Structure &amp; Security of Banking System instantly this way anywhere.</a:t>
            </a:r>
            <a:endParaRPr lang="en-IN" dirty="0"/>
          </a:p>
        </p:txBody>
      </p:sp>
    </p:spTree>
    <p:extLst>
      <p:ext uri="{BB962C8B-B14F-4D97-AF65-F5344CB8AC3E}">
        <p14:creationId xmlns:p14="http://schemas.microsoft.com/office/powerpoint/2010/main" val="396227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BA774-896D-4FAE-8144-A725C1DB8D07}"/>
              </a:ext>
            </a:extLst>
          </p:cNvPr>
          <p:cNvSpPr>
            <a:spLocks noGrp="1"/>
          </p:cNvSpPr>
          <p:nvPr>
            <p:ph type="title"/>
          </p:nvPr>
        </p:nvSpPr>
        <p:spPr/>
        <p:txBody>
          <a:bodyPr>
            <a:normAutofit/>
          </a:bodyPr>
          <a:lstStyle/>
          <a:p>
            <a:pPr algn="ctr"/>
            <a:r>
              <a:rPr lang="en-IN" dirty="0"/>
              <a:t>Objectives</a:t>
            </a:r>
            <a:br>
              <a:rPr lang="en-IN" dirty="0"/>
            </a:br>
            <a:endParaRPr lang="en-IN" dirty="0"/>
          </a:p>
        </p:txBody>
      </p:sp>
      <p:sp>
        <p:nvSpPr>
          <p:cNvPr id="5" name="Content Placeholder 4">
            <a:extLst>
              <a:ext uri="{FF2B5EF4-FFF2-40B4-BE49-F238E27FC236}">
                <a16:creationId xmlns:a16="http://schemas.microsoft.com/office/drawing/2014/main" id="{A93E2D6A-7DE5-4B9C-B9CD-8C0C987CEFE4}"/>
              </a:ext>
            </a:extLst>
          </p:cNvPr>
          <p:cNvSpPr>
            <a:spLocks noGrp="1"/>
          </p:cNvSpPr>
          <p:nvPr>
            <p:ph idx="1"/>
          </p:nvPr>
        </p:nvSpPr>
        <p:spPr>
          <a:xfrm>
            <a:off x="677334" y="1930400"/>
            <a:ext cx="8596668" cy="3880773"/>
          </a:xfrm>
        </p:spPr>
        <p:txBody>
          <a:bodyPr>
            <a:normAutofit/>
          </a:bodyPr>
          <a:lstStyle/>
          <a:p>
            <a:pPr marL="457200" indent="-457200">
              <a:buAutoNum type="arabicPeriod"/>
            </a:pPr>
            <a:r>
              <a:rPr lang="en-US" sz="3200" dirty="0"/>
              <a:t>To design and simulate a banking network system which is secure. </a:t>
            </a:r>
          </a:p>
          <a:p>
            <a:pPr marL="457200" indent="-457200">
              <a:buAutoNum type="arabicPeriod"/>
            </a:pPr>
            <a:r>
              <a:rPr lang="en-US" sz="3200" dirty="0"/>
              <a:t>To simulate a banking network system that will easily manage any banking task. </a:t>
            </a:r>
          </a:p>
          <a:p>
            <a:pPr marL="457200" indent="-457200">
              <a:buAutoNum type="arabicPeriod"/>
            </a:pPr>
            <a:r>
              <a:rPr lang="en-US" sz="3200" dirty="0"/>
              <a:t>To manage the banking network by a central system </a:t>
            </a:r>
            <a:endParaRPr lang="en-IN" sz="3200" dirty="0"/>
          </a:p>
        </p:txBody>
      </p:sp>
    </p:spTree>
    <p:extLst>
      <p:ext uri="{BB962C8B-B14F-4D97-AF65-F5344CB8AC3E}">
        <p14:creationId xmlns:p14="http://schemas.microsoft.com/office/powerpoint/2010/main" val="537680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EDCD9-2BFE-4292-9F14-86A65046173C}"/>
              </a:ext>
            </a:extLst>
          </p:cNvPr>
          <p:cNvSpPr>
            <a:spLocks noGrp="1"/>
          </p:cNvSpPr>
          <p:nvPr>
            <p:ph type="title"/>
          </p:nvPr>
        </p:nvSpPr>
        <p:spPr>
          <a:xfrm>
            <a:off x="1390741" y="74890"/>
            <a:ext cx="8596668" cy="840033"/>
          </a:xfrm>
        </p:spPr>
        <p:txBody>
          <a:bodyPr/>
          <a:lstStyle/>
          <a:p>
            <a:pPr algn="ctr"/>
            <a:r>
              <a:rPr lang="en-IN" dirty="0"/>
              <a:t>Literature Survey</a:t>
            </a:r>
          </a:p>
        </p:txBody>
      </p:sp>
      <p:graphicFrame>
        <p:nvGraphicFramePr>
          <p:cNvPr id="7" name="Table 7">
            <a:extLst>
              <a:ext uri="{FF2B5EF4-FFF2-40B4-BE49-F238E27FC236}">
                <a16:creationId xmlns:a16="http://schemas.microsoft.com/office/drawing/2014/main" id="{FA3F7D18-1537-441F-84AF-8F2F4A7E325A}"/>
              </a:ext>
            </a:extLst>
          </p:cNvPr>
          <p:cNvGraphicFramePr>
            <a:graphicFrameLocks noGrp="1"/>
          </p:cNvGraphicFramePr>
          <p:nvPr>
            <p:ph idx="1"/>
            <p:extLst>
              <p:ext uri="{D42A27DB-BD31-4B8C-83A1-F6EECF244321}">
                <p14:modId xmlns:p14="http://schemas.microsoft.com/office/powerpoint/2010/main" val="4184981971"/>
              </p:ext>
            </p:extLst>
          </p:nvPr>
        </p:nvGraphicFramePr>
        <p:xfrm>
          <a:off x="179109" y="1112363"/>
          <a:ext cx="11019933" cy="5250730"/>
        </p:xfrm>
        <a:graphic>
          <a:graphicData uri="http://schemas.openxmlformats.org/drawingml/2006/table">
            <a:tbl>
              <a:tblPr firstRow="1" bandRow="1">
                <a:tableStyleId>{5C22544A-7EE6-4342-B048-85BDC9FD1C3A}</a:tableStyleId>
              </a:tblPr>
              <a:tblGrid>
                <a:gridCol w="1414021">
                  <a:extLst>
                    <a:ext uri="{9D8B030D-6E8A-4147-A177-3AD203B41FA5}">
                      <a16:colId xmlns:a16="http://schemas.microsoft.com/office/drawing/2014/main" val="1006216612"/>
                    </a:ext>
                  </a:extLst>
                </a:gridCol>
                <a:gridCol w="1661308">
                  <a:extLst>
                    <a:ext uri="{9D8B030D-6E8A-4147-A177-3AD203B41FA5}">
                      <a16:colId xmlns:a16="http://schemas.microsoft.com/office/drawing/2014/main" val="1485323697"/>
                    </a:ext>
                  </a:extLst>
                </a:gridCol>
                <a:gridCol w="2354510">
                  <a:extLst>
                    <a:ext uri="{9D8B030D-6E8A-4147-A177-3AD203B41FA5}">
                      <a16:colId xmlns:a16="http://schemas.microsoft.com/office/drawing/2014/main" val="3301220509"/>
                    </a:ext>
                  </a:extLst>
                </a:gridCol>
                <a:gridCol w="2139885">
                  <a:extLst>
                    <a:ext uri="{9D8B030D-6E8A-4147-A177-3AD203B41FA5}">
                      <a16:colId xmlns:a16="http://schemas.microsoft.com/office/drawing/2014/main" val="3644907062"/>
                    </a:ext>
                  </a:extLst>
                </a:gridCol>
                <a:gridCol w="2139885">
                  <a:extLst>
                    <a:ext uri="{9D8B030D-6E8A-4147-A177-3AD203B41FA5}">
                      <a16:colId xmlns:a16="http://schemas.microsoft.com/office/drawing/2014/main" val="2579033482"/>
                    </a:ext>
                  </a:extLst>
                </a:gridCol>
                <a:gridCol w="1310324">
                  <a:extLst>
                    <a:ext uri="{9D8B030D-6E8A-4147-A177-3AD203B41FA5}">
                      <a16:colId xmlns:a16="http://schemas.microsoft.com/office/drawing/2014/main" val="3827844046"/>
                    </a:ext>
                  </a:extLst>
                </a:gridCol>
              </a:tblGrid>
              <a:tr h="900561">
                <a:tc>
                  <a:txBody>
                    <a:bodyPr/>
                    <a:lstStyle/>
                    <a:p>
                      <a:r>
                        <a:rPr lang="en-IN" dirty="0"/>
                        <a:t>Title of the Paper-</a:t>
                      </a:r>
                    </a:p>
                  </a:txBody>
                  <a:tcPr/>
                </a:tc>
                <a:tc>
                  <a:txBody>
                    <a:bodyPr/>
                    <a:lstStyle/>
                    <a:p>
                      <a:r>
                        <a:rPr lang="en-IN" dirty="0"/>
                        <a:t>Author-</a:t>
                      </a:r>
                    </a:p>
                  </a:txBody>
                  <a:tcPr/>
                </a:tc>
                <a:tc>
                  <a:txBody>
                    <a:bodyPr/>
                    <a:lstStyle/>
                    <a:p>
                      <a:r>
                        <a:rPr lang="en-IN" dirty="0"/>
                        <a:t>Objective of the paper-</a:t>
                      </a:r>
                    </a:p>
                  </a:txBody>
                  <a:tcPr/>
                </a:tc>
                <a:tc>
                  <a:txBody>
                    <a:bodyPr/>
                    <a:lstStyle/>
                    <a:p>
                      <a:r>
                        <a:rPr lang="en-IN" dirty="0"/>
                        <a:t>Methodology-</a:t>
                      </a:r>
                    </a:p>
                  </a:txBody>
                  <a:tcPr/>
                </a:tc>
                <a:tc>
                  <a:txBody>
                    <a:bodyPr/>
                    <a:lstStyle/>
                    <a:p>
                      <a:r>
                        <a:rPr lang="en-IN" dirty="0"/>
                        <a:t>Result-</a:t>
                      </a:r>
                    </a:p>
                  </a:txBody>
                  <a:tcPr/>
                </a:tc>
                <a:tc>
                  <a:txBody>
                    <a:bodyPr/>
                    <a:lstStyle/>
                    <a:p>
                      <a:r>
                        <a:rPr lang="en-IN" dirty="0"/>
                        <a:t>Reference</a:t>
                      </a:r>
                    </a:p>
                  </a:txBody>
                  <a:tcPr/>
                </a:tc>
                <a:extLst>
                  <a:ext uri="{0D108BD9-81ED-4DB2-BD59-A6C34878D82A}">
                    <a16:rowId xmlns:a16="http://schemas.microsoft.com/office/drawing/2014/main" val="218918681"/>
                  </a:ext>
                </a:extLst>
              </a:tr>
              <a:tr h="4350169">
                <a:tc>
                  <a:txBody>
                    <a:bodyPr/>
                    <a:lstStyle/>
                    <a:p>
                      <a:r>
                        <a:rPr lang="en-US" sz="2200" dirty="0"/>
                        <a:t>Design and Simulation of a Banking Network System</a:t>
                      </a:r>
                      <a:endParaRPr lang="en-IN" sz="2200" dirty="0"/>
                    </a:p>
                  </a:txBody>
                  <a:tcPr/>
                </a:tc>
                <a:tc>
                  <a:txBody>
                    <a:bodyPr/>
                    <a:lstStyle/>
                    <a:p>
                      <a:r>
                        <a:rPr lang="en-IN" sz="2200" dirty="0"/>
                        <a:t>Abdul Hannan , </a:t>
                      </a:r>
                      <a:r>
                        <a:rPr lang="en-IN" sz="2200" dirty="0" err="1"/>
                        <a:t>M.A.Jobayer</a:t>
                      </a:r>
                      <a:r>
                        <a:rPr lang="en-IN" sz="2200" dirty="0"/>
                        <a:t> Bin </a:t>
                      </a:r>
                      <a:r>
                        <a:rPr lang="en-IN" sz="2200" dirty="0" err="1"/>
                        <a:t>Bakkre</a:t>
                      </a:r>
                      <a:r>
                        <a:rPr lang="en-IN" sz="2200" dirty="0"/>
                        <a:t> , </a:t>
                      </a:r>
                      <a:r>
                        <a:rPr lang="en-IN" sz="2200" dirty="0" err="1"/>
                        <a:t>Rajib</a:t>
                      </a:r>
                      <a:r>
                        <a:rPr lang="en-IN" sz="2200" dirty="0"/>
                        <a:t> Chandra Ray , </a:t>
                      </a:r>
                      <a:r>
                        <a:rPr lang="en-IN" sz="2200" dirty="0" err="1"/>
                        <a:t>Md.Selim</a:t>
                      </a:r>
                      <a:r>
                        <a:rPr lang="en-IN" sz="2200" dirty="0"/>
                        <a:t> Hossain .</a:t>
                      </a:r>
                    </a:p>
                  </a:txBody>
                  <a:tcPr/>
                </a:tc>
                <a:tc>
                  <a:txBody>
                    <a:bodyPr/>
                    <a:lstStyle/>
                    <a:p>
                      <a:r>
                        <a:rPr lang="en-US" dirty="0"/>
                        <a:t>The general aim of this project is to simulate a banking system which is secure and easy to use. Previously the system was manual, not secure, also working slowly. This proposed system overcomes the lacking of the existing manual system.</a:t>
                      </a:r>
                      <a:endParaRPr lang="en-IN" dirty="0"/>
                    </a:p>
                  </a:txBody>
                  <a:tcPr/>
                </a:tc>
                <a:tc>
                  <a:txBody>
                    <a:bodyPr/>
                    <a:lstStyle/>
                    <a:p>
                      <a:r>
                        <a:rPr lang="en-US" sz="2000" dirty="0"/>
                        <a:t>In this project “Design and Simulation of a Banking System” discuss the total banking network structure &amp; some security feathers.</a:t>
                      </a:r>
                      <a:endParaRPr lang="en-IN" sz="2000" dirty="0"/>
                    </a:p>
                  </a:txBody>
                  <a:tcPr/>
                </a:tc>
                <a:tc>
                  <a:txBody>
                    <a:bodyPr/>
                    <a:lstStyle/>
                    <a:p>
                      <a:r>
                        <a:rPr lang="en-IN" dirty="0"/>
                        <a:t>In today’s world, people are using mobile banking and internet banking services that help people manage banking online. This project will help people to deal with all this in a well planned and easy manner.</a:t>
                      </a:r>
                    </a:p>
                  </a:txBody>
                  <a:tcPr/>
                </a:tc>
                <a:tc>
                  <a:txBody>
                    <a:bodyPr/>
                    <a:lstStyle/>
                    <a:p>
                      <a:r>
                        <a:rPr lang="en-IN" dirty="0"/>
                        <a:t>http://www.ajer.org/papers/v4(11)/K0411079091.pdf</a:t>
                      </a:r>
                    </a:p>
                  </a:txBody>
                  <a:tcPr/>
                </a:tc>
                <a:extLst>
                  <a:ext uri="{0D108BD9-81ED-4DB2-BD59-A6C34878D82A}">
                    <a16:rowId xmlns:a16="http://schemas.microsoft.com/office/drawing/2014/main" val="950518622"/>
                  </a:ext>
                </a:extLst>
              </a:tr>
            </a:tbl>
          </a:graphicData>
        </a:graphic>
      </p:graphicFrame>
    </p:spTree>
    <p:extLst>
      <p:ext uri="{BB962C8B-B14F-4D97-AF65-F5344CB8AC3E}">
        <p14:creationId xmlns:p14="http://schemas.microsoft.com/office/powerpoint/2010/main" val="2592385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4BDA2-00C6-4751-8CCF-B4A0EAC33384}"/>
              </a:ext>
            </a:extLst>
          </p:cNvPr>
          <p:cNvSpPr>
            <a:spLocks noGrp="1"/>
          </p:cNvSpPr>
          <p:nvPr>
            <p:ph type="title"/>
          </p:nvPr>
        </p:nvSpPr>
        <p:spPr/>
        <p:txBody>
          <a:bodyPr/>
          <a:lstStyle/>
          <a:p>
            <a:pPr algn="ctr"/>
            <a:r>
              <a:rPr lang="en-IN" dirty="0"/>
              <a:t>Journals referred</a:t>
            </a:r>
          </a:p>
        </p:txBody>
      </p:sp>
      <p:sp>
        <p:nvSpPr>
          <p:cNvPr id="3" name="Content Placeholder 2">
            <a:extLst>
              <a:ext uri="{FF2B5EF4-FFF2-40B4-BE49-F238E27FC236}">
                <a16:creationId xmlns:a16="http://schemas.microsoft.com/office/drawing/2014/main" id="{47794399-B977-497C-AD7D-4252695C7704}"/>
              </a:ext>
            </a:extLst>
          </p:cNvPr>
          <p:cNvSpPr>
            <a:spLocks noGrp="1"/>
          </p:cNvSpPr>
          <p:nvPr>
            <p:ph idx="1"/>
          </p:nvPr>
        </p:nvSpPr>
        <p:spPr/>
        <p:txBody>
          <a:bodyPr/>
          <a:lstStyle/>
          <a:p>
            <a:r>
              <a:rPr lang="en-IN" sz="2200" dirty="0"/>
              <a:t>Title- Design and Simulation of a Banking Network System</a:t>
            </a:r>
          </a:p>
          <a:p>
            <a:pPr marL="0" indent="0">
              <a:buNone/>
            </a:pPr>
            <a:r>
              <a:rPr lang="en-IN" sz="2200" dirty="0"/>
              <a:t>  	Author- Abdul Hannan , </a:t>
            </a:r>
            <a:r>
              <a:rPr lang="en-IN" sz="2200" dirty="0" err="1"/>
              <a:t>M.A.Jobayer</a:t>
            </a:r>
            <a:r>
              <a:rPr lang="en-IN" sz="2200" dirty="0"/>
              <a:t> Bin </a:t>
            </a:r>
            <a:r>
              <a:rPr lang="en-IN" sz="2200" dirty="0" err="1"/>
              <a:t>Bakkre</a:t>
            </a:r>
            <a:r>
              <a:rPr lang="en-IN" sz="2200" dirty="0"/>
              <a:t> , 									</a:t>
            </a:r>
            <a:r>
              <a:rPr lang="en-IN" sz="2200" dirty="0" err="1"/>
              <a:t>Rajib</a:t>
            </a:r>
            <a:r>
              <a:rPr lang="en-IN" sz="2200" dirty="0"/>
              <a:t> Chandra Ray , 	Md. Selim Hossain .</a:t>
            </a:r>
          </a:p>
          <a:p>
            <a:pPr marL="0" indent="0">
              <a:buNone/>
            </a:pPr>
            <a:endParaRPr lang="en-IN" sz="2200" dirty="0"/>
          </a:p>
          <a:p>
            <a:r>
              <a:rPr lang="en-IN" sz="2200" dirty="0"/>
              <a:t>Title- Creating Network Design Proposal Based On Specific Requirements</a:t>
            </a:r>
          </a:p>
          <a:p>
            <a:pPr marL="0" indent="0">
              <a:buNone/>
            </a:pPr>
            <a:r>
              <a:rPr lang="en-IN" sz="2200" dirty="0"/>
              <a:t>	Author- Jenny </a:t>
            </a:r>
            <a:r>
              <a:rPr lang="en-IN" sz="2200" dirty="0" err="1"/>
              <a:t>Larrson</a:t>
            </a:r>
            <a:endParaRPr lang="en-IN" sz="2200" dirty="0"/>
          </a:p>
        </p:txBody>
      </p:sp>
    </p:spTree>
    <p:extLst>
      <p:ext uri="{BB962C8B-B14F-4D97-AF65-F5344CB8AC3E}">
        <p14:creationId xmlns:p14="http://schemas.microsoft.com/office/powerpoint/2010/main" val="45880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334A-4D32-4232-B82F-D0AED75D06A2}"/>
              </a:ext>
            </a:extLst>
          </p:cNvPr>
          <p:cNvSpPr>
            <a:spLocks noGrp="1"/>
          </p:cNvSpPr>
          <p:nvPr>
            <p:ph type="title"/>
          </p:nvPr>
        </p:nvSpPr>
        <p:spPr/>
        <p:txBody>
          <a:bodyPr/>
          <a:lstStyle/>
          <a:p>
            <a:pPr algn="ctr"/>
            <a:r>
              <a:rPr lang="en-IN" dirty="0"/>
              <a:t>Hardware Components</a:t>
            </a:r>
          </a:p>
        </p:txBody>
      </p:sp>
      <p:sp>
        <p:nvSpPr>
          <p:cNvPr id="3" name="Content Placeholder 2">
            <a:extLst>
              <a:ext uri="{FF2B5EF4-FFF2-40B4-BE49-F238E27FC236}">
                <a16:creationId xmlns:a16="http://schemas.microsoft.com/office/drawing/2014/main" id="{B464BFC6-48E9-49A0-94B6-F0166CC58740}"/>
              </a:ext>
            </a:extLst>
          </p:cNvPr>
          <p:cNvSpPr>
            <a:spLocks noGrp="1"/>
          </p:cNvSpPr>
          <p:nvPr>
            <p:ph idx="1"/>
          </p:nvPr>
        </p:nvSpPr>
        <p:spPr>
          <a:xfrm>
            <a:off x="677334" y="2160589"/>
            <a:ext cx="2980266" cy="3880773"/>
          </a:xfrm>
        </p:spPr>
        <p:txBody>
          <a:bodyPr/>
          <a:lstStyle/>
          <a:p>
            <a:r>
              <a:rPr lang="en-IN" dirty="0"/>
              <a:t>Cable and dsl modems</a:t>
            </a:r>
          </a:p>
          <a:p>
            <a:r>
              <a:rPr lang="en-IN" dirty="0"/>
              <a:t>Switch/ Routers</a:t>
            </a:r>
          </a:p>
          <a:p>
            <a:r>
              <a:rPr lang="en-IN" dirty="0"/>
              <a:t>Wireless modems</a:t>
            </a:r>
          </a:p>
          <a:p>
            <a:r>
              <a:rPr lang="en-IN" dirty="0"/>
              <a:t>Cable connection </a:t>
            </a:r>
          </a:p>
          <a:p>
            <a:r>
              <a:rPr lang="en-IN" dirty="0"/>
              <a:t>32 GB RAM</a:t>
            </a:r>
          </a:p>
          <a:p>
            <a:r>
              <a:rPr lang="en-IN" dirty="0"/>
              <a:t>Intel i5 Processor</a:t>
            </a:r>
          </a:p>
          <a:p>
            <a:r>
              <a:rPr lang="en-IN" dirty="0"/>
              <a:t>Servers</a:t>
            </a:r>
          </a:p>
          <a:p>
            <a:r>
              <a:rPr lang="en-IN" dirty="0"/>
              <a:t>Keyboard and mouse</a:t>
            </a:r>
          </a:p>
          <a:p>
            <a:r>
              <a:rPr lang="en-IN" dirty="0"/>
              <a:t>Hard disk 100 GB</a:t>
            </a:r>
          </a:p>
          <a:p>
            <a:pPr marL="0" indent="0">
              <a:buNone/>
            </a:pPr>
            <a:endParaRPr lang="en-IN" dirty="0"/>
          </a:p>
        </p:txBody>
      </p:sp>
      <p:pic>
        <p:nvPicPr>
          <p:cNvPr id="5" name="Picture 4">
            <a:extLst>
              <a:ext uri="{FF2B5EF4-FFF2-40B4-BE49-F238E27FC236}">
                <a16:creationId xmlns:a16="http://schemas.microsoft.com/office/drawing/2014/main" id="{260C3741-D334-4E85-B8C8-16A8AF61F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1930400"/>
            <a:ext cx="5468645" cy="3357387"/>
          </a:xfrm>
          <a:prstGeom prst="rect">
            <a:avLst/>
          </a:prstGeom>
        </p:spPr>
      </p:pic>
    </p:spTree>
    <p:extLst>
      <p:ext uri="{BB962C8B-B14F-4D97-AF65-F5344CB8AC3E}">
        <p14:creationId xmlns:p14="http://schemas.microsoft.com/office/powerpoint/2010/main" val="2941583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FA71-CA16-404C-A6DB-9C83AF826DE1}"/>
              </a:ext>
            </a:extLst>
          </p:cNvPr>
          <p:cNvSpPr>
            <a:spLocks noGrp="1"/>
          </p:cNvSpPr>
          <p:nvPr>
            <p:ph type="title"/>
          </p:nvPr>
        </p:nvSpPr>
        <p:spPr/>
        <p:txBody>
          <a:bodyPr/>
          <a:lstStyle/>
          <a:p>
            <a:pPr algn="ctr"/>
            <a:r>
              <a:rPr lang="en-IN" dirty="0"/>
              <a:t>Software Requirements		</a:t>
            </a:r>
          </a:p>
        </p:txBody>
      </p:sp>
      <p:sp>
        <p:nvSpPr>
          <p:cNvPr id="3" name="Content Placeholder 2">
            <a:extLst>
              <a:ext uri="{FF2B5EF4-FFF2-40B4-BE49-F238E27FC236}">
                <a16:creationId xmlns:a16="http://schemas.microsoft.com/office/drawing/2014/main" id="{A62BAB27-C4C5-4D52-BEDC-1583677CE0E9}"/>
              </a:ext>
            </a:extLst>
          </p:cNvPr>
          <p:cNvSpPr>
            <a:spLocks noGrp="1"/>
          </p:cNvSpPr>
          <p:nvPr>
            <p:ph idx="1"/>
          </p:nvPr>
        </p:nvSpPr>
        <p:spPr>
          <a:xfrm>
            <a:off x="464270" y="1654562"/>
            <a:ext cx="4356305" cy="3880773"/>
          </a:xfrm>
        </p:spPr>
        <p:txBody>
          <a:bodyPr/>
          <a:lstStyle/>
          <a:p>
            <a:pPr marL="0" indent="0">
              <a:buNone/>
            </a:pPr>
            <a:r>
              <a:rPr lang="en-US" dirty="0"/>
              <a:t>This following software we have used to implement our project- </a:t>
            </a:r>
          </a:p>
          <a:p>
            <a:r>
              <a:rPr lang="en-US" dirty="0"/>
              <a:t>Packet Tracer 7.3.1</a:t>
            </a:r>
          </a:p>
          <a:p>
            <a:r>
              <a:rPr lang="en-US" dirty="0"/>
              <a:t>Windows 10 platform. </a:t>
            </a:r>
          </a:p>
          <a:p>
            <a:r>
              <a:rPr lang="en-US" dirty="0"/>
              <a:t>Antivirus Software</a:t>
            </a:r>
          </a:p>
          <a:p>
            <a:r>
              <a:rPr lang="en-US" dirty="0"/>
              <a:t>Switch. </a:t>
            </a:r>
          </a:p>
          <a:p>
            <a:r>
              <a:rPr lang="en-US" dirty="0"/>
              <a:t>Router. </a:t>
            </a:r>
          </a:p>
          <a:p>
            <a:r>
              <a:rPr lang="en-US" dirty="0"/>
              <a:t>Firewall. </a:t>
            </a:r>
          </a:p>
          <a:p>
            <a:r>
              <a:rPr lang="en-US" dirty="0"/>
              <a:t>Virtual Machines</a:t>
            </a:r>
          </a:p>
          <a:p>
            <a:endParaRPr lang="en-IN" dirty="0"/>
          </a:p>
        </p:txBody>
      </p:sp>
      <p:pic>
        <p:nvPicPr>
          <p:cNvPr id="5" name="Picture 4">
            <a:extLst>
              <a:ext uri="{FF2B5EF4-FFF2-40B4-BE49-F238E27FC236}">
                <a16:creationId xmlns:a16="http://schemas.microsoft.com/office/drawing/2014/main" id="{561344E4-4919-410C-958B-B337A3494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0574" y="1732810"/>
            <a:ext cx="4453427" cy="3724275"/>
          </a:xfrm>
          <a:prstGeom prst="rect">
            <a:avLst/>
          </a:prstGeom>
        </p:spPr>
      </p:pic>
    </p:spTree>
    <p:extLst>
      <p:ext uri="{BB962C8B-B14F-4D97-AF65-F5344CB8AC3E}">
        <p14:creationId xmlns:p14="http://schemas.microsoft.com/office/powerpoint/2010/main" val="2472714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EFFC-2526-436E-ABAD-496EBA8B03DC}"/>
              </a:ext>
            </a:extLst>
          </p:cNvPr>
          <p:cNvSpPr>
            <a:spLocks noGrp="1"/>
          </p:cNvSpPr>
          <p:nvPr>
            <p:ph type="title"/>
          </p:nvPr>
        </p:nvSpPr>
        <p:spPr/>
        <p:txBody>
          <a:bodyPr/>
          <a:lstStyle/>
          <a:p>
            <a:pPr algn="ctr"/>
            <a:r>
              <a:rPr lang="en-IN" dirty="0"/>
              <a:t>Network Design &amp; Configuration</a:t>
            </a:r>
          </a:p>
        </p:txBody>
      </p:sp>
      <p:sp>
        <p:nvSpPr>
          <p:cNvPr id="3" name="Content Placeholder 2">
            <a:extLst>
              <a:ext uri="{FF2B5EF4-FFF2-40B4-BE49-F238E27FC236}">
                <a16:creationId xmlns:a16="http://schemas.microsoft.com/office/drawing/2014/main" id="{25FC44C0-E307-4D9C-81BC-92BA565DA88D}"/>
              </a:ext>
            </a:extLst>
          </p:cNvPr>
          <p:cNvSpPr>
            <a:spLocks noGrp="1"/>
          </p:cNvSpPr>
          <p:nvPr>
            <p:ph idx="1"/>
          </p:nvPr>
        </p:nvSpPr>
        <p:spPr>
          <a:xfrm>
            <a:off x="677334" y="1840077"/>
            <a:ext cx="8596668" cy="3880773"/>
          </a:xfrm>
        </p:spPr>
        <p:txBody>
          <a:bodyPr>
            <a:normAutofit fontScale="92500" lnSpcReduction="10000"/>
          </a:bodyPr>
          <a:lstStyle/>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Connect the VPN appliances to the appropriate internet connections.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VLANS, VLAN 2 and VLAN 3 on the switches at the main office.</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Connect one of the ports on the switch to the trunk port on the NSA appliance.</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the VLAN 2 and VLAN 3 gateway on the NSA appliance as 192.168.1.1 and 192.168.2.1 respectively.</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site to site IPSEC tunnels between the TZ170 and NSA.</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static NAT on the NSA appliance to map the public IP address of the application server with the LAN IP address.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ACL on the NSA appliance to allow only TCP port 443 (https) communication the application server. Configure ACL’s to allow all traffic between the branch and main office networks.</a:t>
            </a:r>
            <a:endParaRPr lang="en-IN" sz="1800" dirty="0">
              <a:effectLst/>
              <a:latin typeface="Times New Roman" panose="02020603050405020304" pitchFamily="18" charset="0"/>
              <a:ea typeface="Times New Roman" panose="02020603050405020304" pitchFamily="18" charset="0"/>
            </a:endParaRPr>
          </a:p>
          <a:p>
            <a:pPr marL="342900" lvl="0" indent="-342900">
              <a:buFont typeface="+mj-lt"/>
              <a:buAutoNum type="arabicPeriod"/>
            </a:pPr>
            <a:r>
              <a:rPr lang="en-US" sz="1800" dirty="0">
                <a:effectLst/>
                <a:latin typeface="Times New Roman" panose="02020603050405020304" pitchFamily="18" charset="0"/>
                <a:ea typeface="Times New Roman" panose="02020603050405020304" pitchFamily="18" charset="0"/>
              </a:rPr>
              <a:t>Configure failover cluster on the application server, for high availability.</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255793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3C079-D5CC-432B-868E-C65EBA38CA94}"/>
              </a:ext>
            </a:extLst>
          </p:cNvPr>
          <p:cNvSpPr>
            <a:spLocks noGrp="1"/>
          </p:cNvSpPr>
          <p:nvPr>
            <p:ph type="title"/>
          </p:nvPr>
        </p:nvSpPr>
        <p:spPr/>
        <p:txBody>
          <a:bodyPr/>
          <a:lstStyle/>
          <a:p>
            <a:pPr algn="ctr"/>
            <a:r>
              <a:rPr lang="en-IN" dirty="0"/>
              <a:t>Design and Methodology</a:t>
            </a:r>
          </a:p>
        </p:txBody>
      </p:sp>
      <p:sp>
        <p:nvSpPr>
          <p:cNvPr id="3" name="Content Placeholder 2">
            <a:extLst>
              <a:ext uri="{FF2B5EF4-FFF2-40B4-BE49-F238E27FC236}">
                <a16:creationId xmlns:a16="http://schemas.microsoft.com/office/drawing/2014/main" id="{57A621AD-A69C-4612-9121-AA9BFA137094}"/>
              </a:ext>
            </a:extLst>
          </p:cNvPr>
          <p:cNvSpPr>
            <a:spLocks noGrp="1"/>
          </p:cNvSpPr>
          <p:nvPr>
            <p:ph idx="1"/>
          </p:nvPr>
        </p:nvSpPr>
        <p:spPr>
          <a:xfrm>
            <a:off x="411004" y="1526960"/>
            <a:ext cx="5146417" cy="4478892"/>
          </a:xfrm>
        </p:spPr>
        <p:txBody>
          <a:bodyPr>
            <a:normAutofit fontScale="92500" lnSpcReduction="20000"/>
          </a:bodyPr>
          <a:lstStyle/>
          <a:p>
            <a:pPr>
              <a:buFont typeface="+mj-lt"/>
              <a:buAutoNum type="arabicPeriod"/>
            </a:pPr>
            <a:r>
              <a:rPr lang="en-US" dirty="0"/>
              <a:t>In this project “Network Design Proposal for Bank” discuss the total banking network structure &amp; some security feathers. We are survey in the different bank and collect some data or information. </a:t>
            </a:r>
          </a:p>
          <a:p>
            <a:pPr>
              <a:buFont typeface="+mj-lt"/>
              <a:buAutoNum type="arabicPeriod"/>
            </a:pPr>
            <a:r>
              <a:rPr lang="en-US" dirty="0"/>
              <a:t>The OSI layer was introduced by the International Organization for Standardization (ISO) in 1984 in order to provide a reference model to make sure products of different vendors would interoperate in networks. </a:t>
            </a:r>
          </a:p>
          <a:p>
            <a:pPr>
              <a:buFont typeface="+mj-lt"/>
              <a:buAutoNum type="arabicPeriod"/>
            </a:pPr>
            <a:r>
              <a:rPr lang="en-US" dirty="0"/>
              <a:t>OSI is short for Open Systems Interconnection. Data transmitted between software programs passes all 7 layers. </a:t>
            </a:r>
          </a:p>
          <a:p>
            <a:pPr>
              <a:buFont typeface="+mj-lt"/>
              <a:buAutoNum type="arabicPeriod"/>
            </a:pPr>
            <a:r>
              <a:rPr lang="en-US" dirty="0"/>
              <a:t>The Application, Presentation and Session layers are also known as the Upper Layers. The Data Link and Physical layers are often implement4ed together to define LAN and WAN specifications</a:t>
            </a:r>
            <a:endParaRPr lang="en-IN" dirty="0"/>
          </a:p>
        </p:txBody>
      </p:sp>
      <p:pic>
        <p:nvPicPr>
          <p:cNvPr id="5" name="Picture 4">
            <a:extLst>
              <a:ext uri="{FF2B5EF4-FFF2-40B4-BE49-F238E27FC236}">
                <a16:creationId xmlns:a16="http://schemas.microsoft.com/office/drawing/2014/main" id="{249026AC-4A38-4E1F-A243-BAAD0F360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3752" y="1526960"/>
            <a:ext cx="3450250" cy="4478892"/>
          </a:xfrm>
          <a:prstGeom prst="rect">
            <a:avLst/>
          </a:prstGeom>
        </p:spPr>
      </p:pic>
    </p:spTree>
    <p:extLst>
      <p:ext uri="{BB962C8B-B14F-4D97-AF65-F5344CB8AC3E}">
        <p14:creationId xmlns:p14="http://schemas.microsoft.com/office/powerpoint/2010/main" val="212712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445A0-E5B6-4D19-9114-BFFB40979E01}"/>
              </a:ext>
            </a:extLst>
          </p:cNvPr>
          <p:cNvSpPr>
            <a:spLocks noGrp="1"/>
          </p:cNvSpPr>
          <p:nvPr>
            <p:ph type="title"/>
          </p:nvPr>
        </p:nvSpPr>
        <p:spPr/>
        <p:txBody>
          <a:bodyPr/>
          <a:lstStyle/>
          <a:p>
            <a:pPr algn="ctr"/>
            <a:r>
              <a:rPr lang="en-IN" dirty="0"/>
              <a:t>Network Topology Design</a:t>
            </a:r>
            <a:br>
              <a:rPr lang="en-IN" dirty="0"/>
            </a:br>
            <a:r>
              <a:rPr lang="en-IN" dirty="0"/>
              <a:t>Architecture</a:t>
            </a:r>
          </a:p>
        </p:txBody>
      </p:sp>
      <p:pic>
        <p:nvPicPr>
          <p:cNvPr id="4" name="Content Placeholder 3">
            <a:extLst>
              <a:ext uri="{FF2B5EF4-FFF2-40B4-BE49-F238E27FC236}">
                <a16:creationId xmlns:a16="http://schemas.microsoft.com/office/drawing/2014/main" id="{709509F8-1040-49AF-A6C6-74CFEF728638}"/>
              </a:ext>
            </a:extLst>
          </p:cNvPr>
          <p:cNvPicPr>
            <a:picLocks noGrp="1" noChangeAspect="1"/>
          </p:cNvPicPr>
          <p:nvPr>
            <p:ph idx="1"/>
          </p:nvPr>
        </p:nvPicPr>
        <p:blipFill>
          <a:blip r:embed="rId2"/>
          <a:stretch>
            <a:fillRect/>
          </a:stretch>
        </p:blipFill>
        <p:spPr>
          <a:xfrm>
            <a:off x="1668545" y="2160588"/>
            <a:ext cx="7013542" cy="3881437"/>
          </a:xfrm>
          <a:prstGeom prst="rect">
            <a:avLst/>
          </a:prstGeom>
        </p:spPr>
      </p:pic>
    </p:spTree>
    <p:extLst>
      <p:ext uri="{BB962C8B-B14F-4D97-AF65-F5344CB8AC3E}">
        <p14:creationId xmlns:p14="http://schemas.microsoft.com/office/powerpoint/2010/main" val="3414465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E7951-410D-4526-8539-697D7020E1AE}"/>
              </a:ext>
            </a:extLst>
          </p:cNvPr>
          <p:cNvSpPr>
            <a:spLocks noGrp="1"/>
          </p:cNvSpPr>
          <p:nvPr>
            <p:ph type="title"/>
          </p:nvPr>
        </p:nvSpPr>
        <p:spPr>
          <a:xfrm>
            <a:off x="772998" y="289089"/>
            <a:ext cx="8596668" cy="1320800"/>
          </a:xfrm>
        </p:spPr>
        <p:txBody>
          <a:bodyPr/>
          <a:lstStyle/>
          <a:p>
            <a:pPr algn="ctr"/>
            <a:r>
              <a:rPr lang="en-IN" dirty="0"/>
              <a:t>Network Topology Diagram Implementation</a:t>
            </a:r>
          </a:p>
        </p:txBody>
      </p:sp>
      <p:pic>
        <p:nvPicPr>
          <p:cNvPr id="4" name="Content Placeholder 3">
            <a:extLst>
              <a:ext uri="{FF2B5EF4-FFF2-40B4-BE49-F238E27FC236}">
                <a16:creationId xmlns:a16="http://schemas.microsoft.com/office/drawing/2014/main" id="{6037A25C-8722-4A2D-B74D-D0126FBF7ED0}"/>
              </a:ext>
            </a:extLst>
          </p:cNvPr>
          <p:cNvPicPr>
            <a:picLocks noGrp="1" noChangeAspect="1"/>
          </p:cNvPicPr>
          <p:nvPr>
            <p:ph idx="1"/>
          </p:nvPr>
        </p:nvPicPr>
        <p:blipFill>
          <a:blip r:embed="rId2"/>
          <a:stretch>
            <a:fillRect/>
          </a:stretch>
        </p:blipFill>
        <p:spPr>
          <a:xfrm>
            <a:off x="772998" y="1930400"/>
            <a:ext cx="8182465" cy="4394986"/>
          </a:xfrm>
          <a:prstGeom prst="rect">
            <a:avLst/>
          </a:prstGeom>
        </p:spPr>
      </p:pic>
    </p:spTree>
    <p:extLst>
      <p:ext uri="{BB962C8B-B14F-4D97-AF65-F5344CB8AC3E}">
        <p14:creationId xmlns:p14="http://schemas.microsoft.com/office/powerpoint/2010/main" val="2763045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DA08-2375-4763-8006-8DE6DE6ED44C}"/>
              </a:ext>
            </a:extLst>
          </p:cNvPr>
          <p:cNvSpPr>
            <a:spLocks noGrp="1"/>
          </p:cNvSpPr>
          <p:nvPr>
            <p:ph type="title"/>
          </p:nvPr>
        </p:nvSpPr>
        <p:spPr>
          <a:xfrm>
            <a:off x="748355" y="662866"/>
            <a:ext cx="8596668" cy="1320800"/>
          </a:xfrm>
        </p:spPr>
        <p:txBody>
          <a:bodyPr>
            <a:normAutofit/>
          </a:bodyPr>
          <a:lstStyle/>
          <a:p>
            <a:pPr algn="ctr"/>
            <a:r>
              <a:rPr lang="en-IN" sz="4400" dirty="0"/>
              <a:t>Result</a:t>
            </a:r>
          </a:p>
        </p:txBody>
      </p:sp>
      <p:sp>
        <p:nvSpPr>
          <p:cNvPr id="3" name="Content Placeholder 2">
            <a:extLst>
              <a:ext uri="{FF2B5EF4-FFF2-40B4-BE49-F238E27FC236}">
                <a16:creationId xmlns:a16="http://schemas.microsoft.com/office/drawing/2014/main" id="{191001C9-8427-4853-8C63-4EC9ED9780E7}"/>
              </a:ext>
            </a:extLst>
          </p:cNvPr>
          <p:cNvSpPr>
            <a:spLocks noGrp="1"/>
          </p:cNvSpPr>
          <p:nvPr>
            <p:ph idx="1"/>
          </p:nvPr>
        </p:nvSpPr>
        <p:spPr>
          <a:xfrm>
            <a:off x="748355" y="1983666"/>
            <a:ext cx="8596668" cy="3880773"/>
          </a:xfrm>
        </p:spPr>
        <p:txBody>
          <a:bodyPr>
            <a:normAutofit lnSpcReduction="10000"/>
          </a:bodyPr>
          <a:lstStyle/>
          <a:p>
            <a:pPr algn="ctr"/>
            <a:r>
              <a:rPr lang="en-US" sz="2400" dirty="0"/>
              <a:t>Now a days, technological development, and automated system development is more essential and crying need for the expansion of banking services because they will need less employers by using automated system. </a:t>
            </a:r>
          </a:p>
          <a:p>
            <a:pPr algn="ctr"/>
            <a:r>
              <a:rPr lang="en-US" sz="2400" dirty="0"/>
              <a:t>On top of that Security is a major issue regarding banking issues. With this system network will be more easy to handle and it will route the data in a shortest path in a vast distributed system. </a:t>
            </a:r>
          </a:p>
          <a:p>
            <a:pPr algn="ctr"/>
            <a:r>
              <a:rPr lang="en-US" sz="2400" dirty="0"/>
              <a:t>In future we will try to implement it in real life so that banks can use it and get benefited from this project. </a:t>
            </a:r>
            <a:endParaRPr lang="en-IN" sz="2400" dirty="0"/>
          </a:p>
        </p:txBody>
      </p:sp>
    </p:spTree>
    <p:extLst>
      <p:ext uri="{BB962C8B-B14F-4D97-AF65-F5344CB8AC3E}">
        <p14:creationId xmlns:p14="http://schemas.microsoft.com/office/powerpoint/2010/main" val="1004201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42CFE-264C-4526-82EF-4C2821629196}"/>
              </a:ext>
            </a:extLst>
          </p:cNvPr>
          <p:cNvSpPr>
            <a:spLocks noGrp="1"/>
          </p:cNvSpPr>
          <p:nvPr>
            <p:ph type="title"/>
          </p:nvPr>
        </p:nvSpPr>
        <p:spPr>
          <a:xfrm>
            <a:off x="677334" y="272248"/>
            <a:ext cx="8596668" cy="1320800"/>
          </a:xfrm>
        </p:spPr>
        <p:txBody>
          <a:bodyPr>
            <a:normAutofit/>
          </a:bodyPr>
          <a:lstStyle/>
          <a:p>
            <a:pPr algn="ctr"/>
            <a:r>
              <a:rPr lang="en-IN" sz="4000" dirty="0"/>
              <a:t>Limitations</a:t>
            </a:r>
          </a:p>
        </p:txBody>
      </p:sp>
      <p:sp>
        <p:nvSpPr>
          <p:cNvPr id="3" name="Content Placeholder 2">
            <a:extLst>
              <a:ext uri="{FF2B5EF4-FFF2-40B4-BE49-F238E27FC236}">
                <a16:creationId xmlns:a16="http://schemas.microsoft.com/office/drawing/2014/main" id="{365DDEF1-DEE1-48B0-8639-A34B64010E83}"/>
              </a:ext>
            </a:extLst>
          </p:cNvPr>
          <p:cNvSpPr>
            <a:spLocks noGrp="1"/>
          </p:cNvSpPr>
          <p:nvPr>
            <p:ph idx="1"/>
          </p:nvPr>
        </p:nvSpPr>
        <p:spPr>
          <a:xfrm>
            <a:off x="677334" y="1397740"/>
            <a:ext cx="8596668" cy="4186314"/>
          </a:xfrm>
        </p:spPr>
        <p:txBody>
          <a:bodyPr>
            <a:normAutofit lnSpcReduction="10000"/>
          </a:bodyPr>
          <a:lstStyle/>
          <a:p>
            <a:pPr algn="l">
              <a:buFont typeface="Arial" panose="020B0604020202020204" pitchFamily="34" charset="0"/>
              <a:buChar char="•"/>
            </a:pPr>
            <a:r>
              <a:rPr lang="en-US" b="0" i="0" dirty="0">
                <a:solidFill>
                  <a:srgbClr val="333333"/>
                </a:solidFill>
                <a:effectLst/>
                <a:latin typeface="Libre Franklin"/>
              </a:rPr>
              <a:t>We will not be able to resolve issues from any of the following by using this Network:</a:t>
            </a:r>
          </a:p>
          <a:p>
            <a:pPr marL="742950" lvl="1" indent="-285750" algn="l">
              <a:buFont typeface="Arial" panose="020B0604020202020204" pitchFamily="34" charset="0"/>
              <a:buChar char="•"/>
            </a:pPr>
            <a:r>
              <a:rPr lang="en-US" b="0" i="0" dirty="0">
                <a:solidFill>
                  <a:srgbClr val="333333"/>
                </a:solidFill>
                <a:effectLst/>
                <a:latin typeface="Libre Franklin"/>
              </a:rPr>
              <a:t>Any unreported/ undetected Bugs in standard software’s, or tools</a:t>
            </a:r>
          </a:p>
          <a:p>
            <a:pPr marL="742950" lvl="1" indent="-285750" algn="l">
              <a:buFont typeface="Arial" panose="020B0604020202020204" pitchFamily="34" charset="0"/>
              <a:buChar char="•"/>
            </a:pPr>
            <a:r>
              <a:rPr lang="en-US" b="0" i="0" dirty="0">
                <a:solidFill>
                  <a:srgbClr val="333333"/>
                </a:solidFill>
                <a:effectLst/>
                <a:latin typeface="Libre Franklin"/>
              </a:rPr>
              <a:t>Any changes in Application Software features</a:t>
            </a:r>
          </a:p>
          <a:p>
            <a:pPr marL="742950" lvl="1" indent="-285750" algn="l">
              <a:buFont typeface="Arial" panose="020B0604020202020204" pitchFamily="34" charset="0"/>
              <a:buChar char="•"/>
            </a:pPr>
            <a:r>
              <a:rPr lang="en-US" b="0" i="0" dirty="0">
                <a:solidFill>
                  <a:srgbClr val="333333"/>
                </a:solidFill>
                <a:effectLst/>
                <a:latin typeface="Libre Franklin"/>
              </a:rPr>
              <a:t>Older versions are incompatible with current features</a:t>
            </a:r>
          </a:p>
          <a:p>
            <a:pPr algn="l">
              <a:buFont typeface="Arial" panose="020B0604020202020204" pitchFamily="34" charset="0"/>
              <a:buChar char="•"/>
            </a:pPr>
            <a:r>
              <a:rPr lang="en-US" b="0" i="0" dirty="0">
                <a:solidFill>
                  <a:srgbClr val="333333"/>
                </a:solidFill>
                <a:effectLst/>
                <a:latin typeface="Libre Franklin"/>
              </a:rPr>
              <a:t>Lease line uptime depends on a particular Service Provider.</a:t>
            </a:r>
          </a:p>
          <a:p>
            <a:pPr algn="l">
              <a:buFont typeface="Arial" panose="020B0604020202020204" pitchFamily="34" charset="0"/>
              <a:buChar char="•"/>
            </a:pPr>
            <a:r>
              <a:rPr lang="en-US" b="0" i="0" dirty="0">
                <a:solidFill>
                  <a:srgbClr val="333333"/>
                </a:solidFill>
                <a:effectLst/>
                <a:latin typeface="Libre Franklin"/>
              </a:rPr>
              <a:t>This Network is limited by the state of technology and functionality of software tools or products deployed.</a:t>
            </a:r>
          </a:p>
          <a:p>
            <a:pPr algn="l">
              <a:buFont typeface="Arial" panose="020B0604020202020204" pitchFamily="34" charset="0"/>
              <a:buChar char="•"/>
            </a:pPr>
            <a:r>
              <a:rPr lang="en-US" b="0" i="0" dirty="0">
                <a:solidFill>
                  <a:srgbClr val="333333"/>
                </a:solidFill>
                <a:effectLst/>
                <a:latin typeface="Libre Franklin"/>
              </a:rPr>
              <a:t>Third-party IOS integration will be carried out on the best-effort basis.</a:t>
            </a:r>
          </a:p>
          <a:p>
            <a:pPr algn="l">
              <a:buFont typeface="Arial" panose="020B0604020202020204" pitchFamily="34" charset="0"/>
              <a:buChar char="•"/>
            </a:pPr>
            <a:r>
              <a:rPr lang="en-US" b="0" i="0" dirty="0">
                <a:solidFill>
                  <a:srgbClr val="333333"/>
                </a:solidFill>
                <a:effectLst/>
                <a:latin typeface="Libre Franklin"/>
              </a:rPr>
              <a:t>All hardware devices upgrades, hardware re-deployments, and policy changes shall be done after the mutual consent of the customer, based on the impact it would have on the overall security situation and performance of the network.</a:t>
            </a:r>
          </a:p>
          <a:p>
            <a:pPr algn="l">
              <a:buFont typeface="Arial" panose="020B0604020202020204" pitchFamily="34" charset="0"/>
              <a:buChar char="•"/>
            </a:pPr>
            <a:r>
              <a:rPr lang="en-US" b="0" i="0" dirty="0">
                <a:solidFill>
                  <a:srgbClr val="333333"/>
                </a:solidFill>
                <a:effectLst/>
                <a:latin typeface="Libre Franklin"/>
              </a:rPr>
              <a:t>Security can be implemented in a better way.</a:t>
            </a:r>
          </a:p>
          <a:p>
            <a:endParaRPr lang="en-IN" dirty="0"/>
          </a:p>
        </p:txBody>
      </p:sp>
    </p:spTree>
    <p:extLst>
      <p:ext uri="{BB962C8B-B14F-4D97-AF65-F5344CB8AC3E}">
        <p14:creationId xmlns:p14="http://schemas.microsoft.com/office/powerpoint/2010/main" val="49252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F2FBB-B1BA-4B47-A323-A052A157798A}"/>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E3E04401-FE36-4A1D-B7A4-DBE714FBC7D5}"/>
              </a:ext>
            </a:extLst>
          </p:cNvPr>
          <p:cNvSpPr>
            <a:spLocks noGrp="1"/>
          </p:cNvSpPr>
          <p:nvPr>
            <p:ph idx="1"/>
          </p:nvPr>
        </p:nvSpPr>
        <p:spPr/>
        <p:txBody>
          <a:bodyPr>
            <a:normAutofit/>
          </a:bodyPr>
          <a:lstStyle/>
          <a:p>
            <a:r>
              <a:rPr lang="en-US" sz="2400" b="0" i="0" dirty="0">
                <a:solidFill>
                  <a:srgbClr val="333333"/>
                </a:solidFill>
                <a:effectLst/>
                <a:latin typeface="Libre Franklin"/>
              </a:rPr>
              <a:t>There is a vast future scope of this Network. This Design can be improved and can be used by various banks. </a:t>
            </a:r>
          </a:p>
          <a:p>
            <a:r>
              <a:rPr lang="en-US" sz="2400" b="0" i="0" dirty="0">
                <a:solidFill>
                  <a:srgbClr val="333333"/>
                </a:solidFill>
                <a:effectLst/>
                <a:latin typeface="Libre Franklin"/>
              </a:rPr>
              <a:t>If the limitations present in this Design are removed then, this Network will become very reliable and provide 100% uptime.</a:t>
            </a:r>
          </a:p>
          <a:p>
            <a:r>
              <a:rPr lang="en-US" sz="2400" b="0" i="0" dirty="0">
                <a:solidFill>
                  <a:srgbClr val="333333"/>
                </a:solidFill>
                <a:effectLst/>
                <a:latin typeface="Libre Franklin"/>
              </a:rPr>
              <a:t>We can easily implement any changes to the Network Design as we are using the latest protocol like Border Gateway Protocol (BGP) in our network which is having attributes to easily divert or control the flow of data and QOS which can be used to allocate bandwidth to servers accordingly.</a:t>
            </a:r>
          </a:p>
          <a:p>
            <a:endParaRPr lang="en-IN" sz="2400" dirty="0"/>
          </a:p>
        </p:txBody>
      </p:sp>
    </p:spTree>
    <p:extLst>
      <p:ext uri="{BB962C8B-B14F-4D97-AF65-F5344CB8AC3E}">
        <p14:creationId xmlns:p14="http://schemas.microsoft.com/office/powerpoint/2010/main" val="2396326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C79A9-609B-4E13-908A-0266314D27CA}"/>
              </a:ext>
            </a:extLst>
          </p:cNvPr>
          <p:cNvSpPr>
            <a:spLocks noGrp="1"/>
          </p:cNvSpPr>
          <p:nvPr>
            <p:ph type="title"/>
          </p:nvPr>
        </p:nvSpPr>
        <p:spPr>
          <a:xfrm>
            <a:off x="677334" y="609600"/>
            <a:ext cx="8596668" cy="653592"/>
          </a:xfrm>
        </p:spPr>
        <p:txBody>
          <a:bodyPr/>
          <a:lstStyle/>
          <a:p>
            <a:pPr algn="ctr"/>
            <a:r>
              <a:rPr lang="en-IN" dirty="0"/>
              <a:t>References</a:t>
            </a:r>
          </a:p>
        </p:txBody>
      </p:sp>
      <p:sp>
        <p:nvSpPr>
          <p:cNvPr id="3" name="Content Placeholder 2">
            <a:extLst>
              <a:ext uri="{FF2B5EF4-FFF2-40B4-BE49-F238E27FC236}">
                <a16:creationId xmlns:a16="http://schemas.microsoft.com/office/drawing/2014/main" id="{5DD21267-DEF8-4DB3-82A8-06690EFA26FF}"/>
              </a:ext>
            </a:extLst>
          </p:cNvPr>
          <p:cNvSpPr>
            <a:spLocks noGrp="1"/>
          </p:cNvSpPr>
          <p:nvPr>
            <p:ph idx="1"/>
          </p:nvPr>
        </p:nvSpPr>
        <p:spPr>
          <a:xfrm>
            <a:off x="677334" y="1263193"/>
            <a:ext cx="8596668" cy="4778170"/>
          </a:xfrm>
        </p:spPr>
        <p:txBody>
          <a:bodyPr>
            <a:noAutofit/>
          </a:bodyPr>
          <a:lstStyle/>
          <a:p>
            <a:pPr>
              <a:buFont typeface="+mj-lt"/>
              <a:buAutoNum type="arabicPeriod"/>
            </a:pPr>
            <a:r>
              <a:rPr lang="en-IN" sz="1200" dirty="0" err="1"/>
              <a:t>J.Claessens</a:t>
            </a:r>
            <a:r>
              <a:rPr lang="en-IN" sz="1200" dirty="0"/>
              <a:t>, V. Dem, D. Cock, B. </a:t>
            </a:r>
            <a:r>
              <a:rPr lang="en-IN" sz="1200" dirty="0" err="1"/>
              <a:t>Preneel</a:t>
            </a:r>
            <a:r>
              <a:rPr lang="en-IN" sz="1200" dirty="0"/>
              <a:t>, J. </a:t>
            </a:r>
            <a:r>
              <a:rPr lang="en-IN" sz="1200" dirty="0" err="1"/>
              <a:t>Vandewalle</a:t>
            </a:r>
            <a:r>
              <a:rPr lang="en-IN" sz="1200" dirty="0"/>
              <a:t> (2002) “On the Security of Today's On-line Electronic Banking Systems”. </a:t>
            </a:r>
          </a:p>
          <a:p>
            <a:pPr>
              <a:buFont typeface="+mj-lt"/>
              <a:buAutoNum type="arabicPeriod"/>
            </a:pPr>
            <a:r>
              <a:rPr lang="en-IN" sz="1200" dirty="0"/>
              <a:t>Andrew S. Tanenbaum, (2002)“Computers network”. </a:t>
            </a:r>
          </a:p>
          <a:p>
            <a:pPr>
              <a:buFont typeface="+mj-lt"/>
              <a:buAutoNum type="arabicPeriod"/>
            </a:pPr>
            <a:r>
              <a:rPr lang="en-IN" sz="1200" dirty="0"/>
              <a:t>CCNA study Guide, Available At: https://www.google.com.bd/?source=search_app&amp;gws_rd=cr, </a:t>
            </a:r>
            <a:r>
              <a:rPr lang="en-IN" sz="1200" dirty="0" err="1"/>
              <a:t>ssl&amp;ei</a:t>
            </a:r>
            <a:r>
              <a:rPr lang="en-IN" sz="1200" dirty="0"/>
              <a:t>=y9b VYniG4KsuQ TuvY84#q=</a:t>
            </a:r>
            <a:r>
              <a:rPr lang="en-IN" sz="1200" dirty="0" err="1"/>
              <a:t>Todd+Lammle</a:t>
            </a:r>
            <a:r>
              <a:rPr lang="en-IN" sz="1200" dirty="0"/>
              <a:t>,+%E2%80%9CCCNA+study+Guide%E2%80%9D,BPB+Publications,+Edition:+5th . </a:t>
            </a:r>
          </a:p>
          <a:p>
            <a:pPr>
              <a:buFont typeface="+mj-lt"/>
              <a:buAutoNum type="arabicPeriod"/>
            </a:pPr>
            <a:r>
              <a:rPr lang="en-IN" sz="1200" dirty="0"/>
              <a:t>Computer Network Device, Available At: http://basic-networking.blogspot.com/2007/08/computer-network-devices-and </a:t>
            </a:r>
            <a:r>
              <a:rPr lang="en-IN" sz="1200" dirty="0" err="1"/>
              <a:t>component.hml</a:t>
            </a:r>
            <a:r>
              <a:rPr lang="en-IN" sz="1200" dirty="0"/>
              <a:t>. </a:t>
            </a:r>
          </a:p>
          <a:p>
            <a:pPr>
              <a:buFont typeface="+mj-lt"/>
              <a:buAutoNum type="arabicPeriod"/>
            </a:pPr>
            <a:r>
              <a:rPr lang="en-IN" sz="1200" dirty="0"/>
              <a:t>IPv4 -Address Classes Available At: http://www.tutorialspoint.com/ipv4/ipv4_address_classes.htm </a:t>
            </a:r>
          </a:p>
          <a:p>
            <a:pPr>
              <a:buFont typeface="+mj-lt"/>
              <a:buAutoNum type="arabicPeriod"/>
            </a:pPr>
            <a:r>
              <a:rPr lang="en-IN" sz="1200" dirty="0"/>
              <a:t>Stuttgart Available At: http://www.ba-stuttgart.de/~schulte/html/55771.html#HDR3 </a:t>
            </a:r>
          </a:p>
          <a:p>
            <a:pPr>
              <a:buFont typeface="+mj-lt"/>
              <a:buAutoNum type="arabicPeriod"/>
            </a:pPr>
            <a:r>
              <a:rPr lang="en-IN" sz="1200" dirty="0"/>
              <a:t>http://cisco.com/univercd/cc/td/doc/cisintwk/ito_doc/ethernet.htm#1020850 </a:t>
            </a:r>
          </a:p>
          <a:p>
            <a:pPr>
              <a:buFont typeface="+mj-lt"/>
              <a:buAutoNum type="arabicPeriod"/>
            </a:pPr>
            <a:r>
              <a:rPr lang="en-IN" sz="1200" dirty="0"/>
              <a:t>Definition Available At : www.defination.com </a:t>
            </a:r>
          </a:p>
          <a:p>
            <a:pPr>
              <a:buFont typeface="+mj-lt"/>
              <a:buAutoNum type="arabicPeriod"/>
            </a:pPr>
            <a:r>
              <a:rPr lang="en-IN" sz="1200" dirty="0"/>
              <a:t>OSPF Available At: http://www.answers.com/topic/open-shortest-path-first </a:t>
            </a:r>
          </a:p>
          <a:p>
            <a:pPr>
              <a:buFont typeface="+mj-lt"/>
              <a:buAutoNum type="arabicPeriod"/>
            </a:pPr>
            <a:r>
              <a:rPr lang="en-IN" sz="1200" dirty="0"/>
              <a:t>Understanding of ATM in Bangladesh Available At: http://www1.searchresults.com/web?l=dis&amp;q=understanding+ </a:t>
            </a:r>
            <a:r>
              <a:rPr lang="en-IN" sz="1200" dirty="0" err="1"/>
              <a:t>ATM+in+bangladesh&amp;o</a:t>
            </a:r>
            <a:r>
              <a:rPr lang="en-IN" sz="1200" dirty="0"/>
              <a:t>=APN10645&amp;apn_dtid=^BND406^YY^BD&amp;shad=s_0042&amp;apn_uid =9734054855124. </a:t>
            </a:r>
          </a:p>
          <a:p>
            <a:pPr>
              <a:buFont typeface="+mj-lt"/>
              <a:buAutoNum type="arabicPeriod"/>
            </a:pPr>
            <a:r>
              <a:rPr lang="en-IN" sz="1200" dirty="0"/>
              <a:t>Access Control List (ACL) Available At: http://en.wikipedia.org/wiki/access_control_list. </a:t>
            </a:r>
          </a:p>
          <a:p>
            <a:pPr>
              <a:buFont typeface="+mj-lt"/>
              <a:buAutoNum type="arabicPeriod"/>
            </a:pPr>
            <a:r>
              <a:rPr lang="en-IN" sz="1200" dirty="0"/>
              <a:t>standard-access-control-list Available At: http://www.answers.com/topic/standard-access-control-list. </a:t>
            </a:r>
          </a:p>
          <a:p>
            <a:pPr>
              <a:buFont typeface="+mj-lt"/>
              <a:buAutoNum type="arabicPeriod"/>
            </a:pPr>
            <a:r>
              <a:rPr lang="en-IN" sz="1200" dirty="0"/>
              <a:t>Computer networking Available At: http://compnetworking.about.com/od/vpn/g/bldef_vpn.htm. </a:t>
            </a:r>
          </a:p>
          <a:p>
            <a:pPr>
              <a:buFont typeface="+mj-lt"/>
              <a:buAutoNum type="arabicPeriod"/>
            </a:pPr>
            <a:r>
              <a:rPr lang="en-IN" sz="1200" dirty="0"/>
              <a:t>OWASP Available At: https://www.owasp.org/index.php/Category: OWASP_Top_Ten_2013_Project</a:t>
            </a:r>
          </a:p>
        </p:txBody>
      </p:sp>
    </p:spTree>
    <p:extLst>
      <p:ext uri="{BB962C8B-B14F-4D97-AF65-F5344CB8AC3E}">
        <p14:creationId xmlns:p14="http://schemas.microsoft.com/office/powerpoint/2010/main" val="3894838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A33C5-B257-4766-958D-72D27389F250}"/>
              </a:ext>
            </a:extLst>
          </p:cNvPr>
          <p:cNvSpPr>
            <a:spLocks noGrp="1"/>
          </p:cNvSpPr>
          <p:nvPr>
            <p:ph type="title"/>
          </p:nvPr>
        </p:nvSpPr>
        <p:spPr/>
        <p:txBody>
          <a:bodyPr/>
          <a:lstStyle/>
          <a:p>
            <a:r>
              <a:rPr lang="en-IN" dirty="0"/>
              <a:t>Presented by –</a:t>
            </a:r>
          </a:p>
        </p:txBody>
      </p:sp>
      <p:sp>
        <p:nvSpPr>
          <p:cNvPr id="3" name="Content Placeholder 2">
            <a:extLst>
              <a:ext uri="{FF2B5EF4-FFF2-40B4-BE49-F238E27FC236}">
                <a16:creationId xmlns:a16="http://schemas.microsoft.com/office/drawing/2014/main" id="{502B8A26-769C-4700-ADDC-A2B200BBD579}"/>
              </a:ext>
            </a:extLst>
          </p:cNvPr>
          <p:cNvSpPr>
            <a:spLocks noGrp="1"/>
          </p:cNvSpPr>
          <p:nvPr>
            <p:ph idx="1"/>
          </p:nvPr>
        </p:nvSpPr>
        <p:spPr/>
        <p:txBody>
          <a:bodyPr/>
          <a:lstStyle/>
          <a:p>
            <a:pPr marL="0" indent="0">
              <a:buNone/>
            </a:pPr>
            <a:r>
              <a:rPr lang="en-IN" dirty="0"/>
              <a:t>	   Name											Reg. No.	</a:t>
            </a:r>
          </a:p>
          <a:p>
            <a:r>
              <a:rPr lang="en-IN" dirty="0"/>
              <a:t>Parivesh Sood									RA1811029010018</a:t>
            </a:r>
          </a:p>
          <a:p>
            <a:r>
              <a:rPr lang="en-IN" dirty="0"/>
              <a:t>Satyam Gupta									RA1811029010019</a:t>
            </a:r>
          </a:p>
          <a:p>
            <a:r>
              <a:rPr lang="en-IN" dirty="0"/>
              <a:t>Aditya Anand									RA1811029010020</a:t>
            </a:r>
          </a:p>
          <a:p>
            <a:r>
              <a:rPr lang="en-IN" dirty="0" err="1"/>
              <a:t>Selvaa</a:t>
            </a:r>
            <a:r>
              <a:rPr lang="en-IN" dirty="0"/>
              <a:t> M										RA1811029010021</a:t>
            </a:r>
          </a:p>
        </p:txBody>
      </p:sp>
    </p:spTree>
    <p:extLst>
      <p:ext uri="{BB962C8B-B14F-4D97-AF65-F5344CB8AC3E}">
        <p14:creationId xmlns:p14="http://schemas.microsoft.com/office/powerpoint/2010/main" val="3253178028"/>
      </p:ext>
    </p:extLst>
  </p:cSld>
  <p:clrMapOvr>
    <a:masterClrMapping/>
  </p:clrMapOvr>
</p:sld>
</file>

<file path=ppt/theme/theme1.xml><?xml version="1.0" encoding="utf-8"?>
<a:theme xmlns:a="http://schemas.openxmlformats.org/drawingml/2006/main" name="Facet">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136</TotalTime>
  <Words>1608</Words>
  <Application>Microsoft Office PowerPoint</Application>
  <PresentationFormat>Widescreen</PresentationFormat>
  <Paragraphs>104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Libre Franklin</vt:lpstr>
      <vt:lpstr>Times New Roman</vt:lpstr>
      <vt:lpstr>Trebuchet MS</vt:lpstr>
      <vt:lpstr>Wingdings 3</vt:lpstr>
      <vt:lpstr>Facet</vt:lpstr>
      <vt:lpstr>Network Design Proposal For Bank</vt:lpstr>
      <vt:lpstr>Abstract  Network Design Proposal for Bank</vt:lpstr>
      <vt:lpstr>Introduction</vt:lpstr>
      <vt:lpstr>Objectives </vt:lpstr>
      <vt:lpstr>Literature Survey</vt:lpstr>
      <vt:lpstr>Journals referred</vt:lpstr>
      <vt:lpstr>Hardware Components</vt:lpstr>
      <vt:lpstr>Software Requirements  </vt:lpstr>
      <vt:lpstr>Network Design &amp; Configuration</vt:lpstr>
      <vt:lpstr>Design and Methodology</vt:lpstr>
      <vt:lpstr>Network Topology Design Architecture</vt:lpstr>
      <vt:lpstr>Network Topology Diagram Implementation</vt:lpstr>
      <vt:lpstr>Result</vt:lpstr>
      <vt:lpstr>Limitations</vt:lpstr>
      <vt:lpstr>Conclusion</vt:lpstr>
      <vt:lpstr>References</vt:lpstr>
      <vt:lpstr>Presented by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Parivesh Sood</dc:creator>
  <cp:lastModifiedBy>Parivesh Sood</cp:lastModifiedBy>
  <cp:revision>10</cp:revision>
  <dcterms:created xsi:type="dcterms:W3CDTF">2020-08-19T18:04:49Z</dcterms:created>
  <dcterms:modified xsi:type="dcterms:W3CDTF">2020-11-07T04:50:46Z</dcterms:modified>
</cp:coreProperties>
</file>